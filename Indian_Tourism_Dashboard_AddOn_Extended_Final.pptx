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9" r:id="rId20"/>
    <p:sldId id="270" r:id="rId21"/>
    <p:sldId id="271" r:id="rId22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72" r:id="rId2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8.xml"/><Relationship Id="rId7" Type="http://schemas.openxmlformats.org/officeDocument/2006/relationships/slide" Target="slides/slide9.xml"/><Relationship Id="rId8" Type="http://schemas.openxmlformats.org/officeDocument/2006/relationships/slide" Target="slides/slide10.xml"/><Relationship Id="rId9" Type="http://schemas.openxmlformats.org/officeDocument/2006/relationships/slide" Target="slides/slide11.xml"/><Relationship Id="rId10" Type="http://schemas.openxmlformats.org/officeDocument/2006/relationships/slide" Target="slides/slide12.xml"/><Relationship Id="rId11" Type="http://schemas.openxmlformats.org/officeDocument/2006/relationships/slide" Target="slides/slide13.xml"/><Relationship Id="rId12" Type="http://schemas.openxmlformats.org/officeDocument/2006/relationships/slide" Target="slides/slide14.xml"/><Relationship Id="rId13" Type="http://schemas.openxmlformats.org/officeDocument/2006/relationships/slide" Target="slides/slide15.xml"/><Relationship Id="rId14" Type="http://schemas.openxmlformats.org/officeDocument/2006/relationships/slide" Target="slides/slide17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Relationship Id="rId20" Type="http://schemas.openxmlformats.org/officeDocument/2006/relationships/slide" Target="slides/slide3.xml"/><Relationship Id="rId21" Type="http://schemas.openxmlformats.org/officeDocument/2006/relationships/slide" Target="slides/slide4.xml"/><Relationship Id="rId22" Type="http://schemas.openxmlformats.org/officeDocument/2006/relationships/slide" Target="slides/slide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9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2926080" cy="2926080"/>
          </a:xfrm>
          <a:prstGeom prst="ellipse">
            <a:avLst/>
          </a:prstGeom>
          <a:solidFill>
            <a:srgbClr val="0E5C63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097280" y="3840480"/>
            <a:ext cx="2377440" cy="2377440"/>
          </a:xfrm>
          <a:prstGeom prst="ellipse">
            <a:avLst/>
          </a:prstGeom>
          <a:solidFill>
            <a:srgbClr val="0E5C63">
              <a:alpha val="6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41732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INDIAN TOURISM ANALYTICS DASHBOARD</a:t>
            </a:r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7772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Project Dataset Overview</a:t>
            </a:r>
          </a:p>
        </p:txBody>
      </p:sp>
      <p:sp>
        <p:nvSpPr>
          <p:cNvPr id="6" name="Text 4"/>
          <p:cNvSpPr/>
          <p:nvPr/>
        </p:nvSpPr>
        <p:spPr>
          <a:xfrm>
            <a:off x="640080" y="2606040"/>
            <a:ext cx="7132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Analysis of the Indian Tourism Dataset used to build the Power BI dashboard. This presentation explains the dataset, dashboard pages, chart selection, insights, and project workflow.</a:t>
            </a:r>
          </a:p>
        </p:txBody>
      </p:sp>
      <p:sp>
        <p:nvSpPr>
          <p:cNvPr id="7" name="Text 5"/>
          <p:cNvSpPr/>
          <p:nvPr/>
        </p:nvSpPr>
        <p:spPr>
          <a:xfrm>
            <a:off x="640080" y="4480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t>Dataset: indian_tourism_dataset.csv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Choosing the Right Chart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chart type is built to answer one kind of question well. The dashboard pairs each visual to the question it needs to answer — not the other way around.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 over time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/ Area Chart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4813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Connects points across a continuous timeline so growth, decline, or seasonality is visible at a glance.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categories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/ Column Chart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048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Puts values side by side so the eye can rank and compare discrete groups like states or months.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Part-to-whole split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15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/ Donut / 100% Stacked / Treemap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Shows how a total breaks into shares, so the mix or proportion matters more than the raw count.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 between two numbers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Plots two measures against each other to reveal correlation, clusters, or outliers.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Geographic pattern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749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Anchors data to real locations so viewers instantly connect numbers to places.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values / cross-tab detail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3159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/ Pivot Table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315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precise figures across two dimensions when an exact number matters more than a shape.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Understanding the Dataset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 across 14 columns describe Indian tourism activity from 2021 to 2025 — enough breadth to support every chart in this dashboard.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span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year, month, season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4813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years of monthly records (2021–2025) across 12 months and 5 named seasons make trend and seasonality analysis possible.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destination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048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states and 120 named destinations give the dataset enough spatial detail to rank and map demand.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profile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15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visitor_type, number_of_visitors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vs. foreign split, with per-record visitor counts ranging from 52 to nearly 50,000.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behavior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purpose_of_visit, avg_stay_days, transport_mode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travel purposes, stays of 1–10 days, and 5 transport modes describe how and why people travel.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 &amp; spend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749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accommodation_type, avg_spend_inr, rating_out_of_5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accommodation types, spend from ₹1,511 to ₹74,580, and a 1–5 rating capture the experience side of each trip.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keys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3159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id: 1–1,000, no gaps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315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clean, unique row identifier with zero duplicates makes the table a reliable base for pivoting and slicing.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 &amp; Preparation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 any chart was built, the raw extract was checked end to end — here is what that pass confirmed and fixed.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 count &amp; structure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rows × 14 columns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4813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Confirmed the full extract loaded with the expected shape before any transformation began.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values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nulls, all 14 columns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048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field came back 100% populated — no imputation or default-filling was needed.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records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15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duplicates, id unique 1–1,000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the id column for repeats and compared full rows — no duplicates found.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standardization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state, purpose, accommodation, transport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Trimmed whitespace and confirmed casing so each category maps to one clean label, not near-duplicate variants.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validation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749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1–5, stay 1–10 days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Checked every numeric field against a sane min/max — no negative, zero, or out-of-range values slipped through.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Logic checks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3159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vs. season labels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315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Cross-checked month against season and found inconsistencies worth flagging — see Problems &amp; Questions.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Working in Power BI Desktop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CSV to published dashboard, here is the workflow behind every page in this report.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Get Data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the CSV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4813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directly to indian_tourism_dataset.csv and loaded it into Power BI Desktop as the source table.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Query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 &amp; shape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048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Used Power Query Editor to check data types, trim text, and rename columns before loading the model.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Modeling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15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&amp; DAX measures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measures such as total visitors, average spend, and average rating on top of the flat table.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bar, pie, map, scatter, table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 one chart type per guiding question — see ‘Choosing the Right Chart’ — across five report pages.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Slicers &amp; interactivity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749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Month, State, Destination, Accommodation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Added slicers so every visual on a page filters together the moment a user picks one value.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7200" y="431596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40080" y="431596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 &amp; share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3063240" y="431596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Service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486400" y="431596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Published the .pbix so the dashboard can be viewed, refreshed, and shared online.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Tourism Growth &amp; Seasonality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tourism grown over time, and when do tourists travel most?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Over Time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line connects one continuous timeline (year), making it the clearest way to read overall growth or decline at a glance.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Month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Twelve independent, discrete categories (months) are easiest to compare when placed as separate bars side by side.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COLUMN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Season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every year to 100% isolates the seasonal mix — so a shift in proportion is visible even if total volume changed.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AREA CHART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 by Month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areas emphasize magnitude as well as trend, making it easy to compare domestic vs. international volume over time.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Month: a control, not a chart, letting users filter every visual above without changing chart type.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Page 1 of 5 — Tourism Growth &amp; Seasonality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Tourism Growth &amp; Seasonality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has tourism grown over time, and when do tourists travel most?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623560" cy="3221714"/>
          </a:xfrm>
          <a:prstGeom prst="rect">
            <a:avLst/>
          </a:prstGeom>
          <a:solidFill>
            <a:srgbClr val="FFFFFF"/>
          </a:solidFill>
          <a:ln w="15875">
            <a:solidFill>
              <a:srgbClr val="BF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093F44">
                <a:alpha val="18000"/>
              </a:srgbClr>
            </a:outerShdw>
          </a:effectLst>
        </p:spPr>
      </p:sp>
      <p:pic>
        <p:nvPicPr>
          <p:cNvPr id="7" name="Image 0" descr="img/shot1_growth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532120" cy="3130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1560"/>
            <a:ext cx="2560320" cy="3749040"/>
          </a:xfrm>
          <a:prstGeom prst="roundRect">
            <a:avLst>
              <a:gd name="adj" fmla="val 2143"/>
            </a:avLst>
          </a:prstGeom>
          <a:solidFill>
            <a:srgbClr val="0E5C63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rose from ~5.2M (2021) to a peak of ~5.9M in 2024, after dipping to ~4.8M through 2022–2023 — then fell sharply back to ~4.8M in 2025.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October is the busiest month (~2.3M visitors); February is the quietest (~1.7M) — roughly a 35% swing between peak and trough.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season mix (stacked by year) stays fairly stable from 2021–2025 — no single season is pulling the overall growth.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visitors consistently outnumber foreign visitors by roughly 4:1 in every month, with foreign volume the flatter of the two lines.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1 of 5 — Tourism Growth &amp; Seasonality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State-Level Demand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attract the most tourists, and how big is the gap between them?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State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Horizontal bars handle many categories and long labels gracefully, so states can be ranked top to bottom at a glance.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Visitor Share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 size shows part-to-whole proportion across many categories — better for a quick 'who's biggest' read than precise values.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 Count by State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ranking task — comparing counts across many states — so bars are reused for consistent, easy comparison.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Visitors by State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Coloring an actual map of India taps spatial memory, so viewers connect the data straight to real geography.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State: filters every visual on the page to a single state for focused comparison.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Page 2 of 5 — State-Level Demand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State-Level Demand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states attract the most tourists, and how big is the gap between them?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623560" cy="3221714"/>
          </a:xfrm>
          <a:prstGeom prst="rect">
            <a:avLst/>
          </a:prstGeom>
          <a:solidFill>
            <a:srgbClr val="FFFFFF"/>
          </a:solidFill>
          <a:ln w="15875">
            <a:solidFill>
              <a:srgbClr val="BF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093F44">
                <a:alpha val="18000"/>
              </a:srgbClr>
            </a:outerShdw>
          </a:effectLst>
        </p:spPr>
      </p:sp>
      <p:pic>
        <p:nvPicPr>
          <p:cNvPr id="7" name="Image 0" descr="img/shot2_sta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532120" cy="3130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1560"/>
            <a:ext cx="2560320" cy="3749040"/>
          </a:xfrm>
          <a:prstGeom prst="roundRect">
            <a:avLst>
              <a:gd name="adj" fmla="val 2143"/>
            </a:avLst>
          </a:prstGeom>
          <a:solidFill>
            <a:srgbClr val="0E5C63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leads all states at ~1.7M visitors, narrowly ahead of Himachal Pradesh (~1.5M) and Telangana (~1.4M).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treemap shows a long tail: after Gujarat, Telangana, Bihar, Uttarakhand and West Bengal, the remaining states shrink quickly in share.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Visitor-type mix varies by state — Gujarat and Jammu &amp; Kashmir show the most segmented visitor-type breakdown of the states shown.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20+ state checklist slicer lets any single state's figures be isolated across all four visuals on the page at once.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2 of 5 — State-Level Demand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Destination Value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destinations offer the best value — high visitors, good ratings, reasonable spend?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Destination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Consistent with other ranking visuals — bars make it easy to spot the most and least visited destinations.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CHART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 vs. Rating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is the standard way to test a relationship between two numeric measures; bubble size adds visitor volume as a third dimension.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 by Destination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metric compared across categories — columns keep the comparison simple and precise.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Destination x Rating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the question needs exact counts crossed by two dimensions, a matrix beats a chart for precision.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Destination: lets users isolate one destination across every visual on the page.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Page 3 of 5 — Destination Value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Destination Value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destinations offer the best value — high visitors, good ratings, reasonable spend?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623560" cy="3221714"/>
          </a:xfrm>
          <a:prstGeom prst="rect">
            <a:avLst/>
          </a:prstGeom>
          <a:solidFill>
            <a:srgbClr val="FFFFFF"/>
          </a:solidFill>
          <a:ln w="15875">
            <a:solidFill>
              <a:srgbClr val="BF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093F44">
                <a:alpha val="18000"/>
              </a:srgbClr>
            </a:outerShdw>
          </a:effectLst>
        </p:spPr>
      </p:sp>
      <p:pic>
        <p:nvPicPr>
          <p:cNvPr id="7" name="Image 0" descr="img/shot3_destinati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532120" cy="3130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1560"/>
            <a:ext cx="2560320" cy="3749040"/>
          </a:xfrm>
          <a:prstGeom prst="roundRect">
            <a:avLst>
              <a:gd name="adj" fmla="val 2143"/>
            </a:avLst>
          </a:prstGeom>
          <a:solidFill>
            <a:srgbClr val="0E5C63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Siliguri tops the destination ranking at ~0.42M visitors, just ahead of Jim Corbett, Jammu and Rann of Kutch (~0.35–0.38M each).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Varanasi has by far the longest average stay (~17 days) — well above Agra, Jammu and Jim Corbett (~14–15) and the rest of the pack (~11–13).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spend-vs-rating scatter trends positive: destinations with higher average spend tend to cluster at higher ratings, with few exceptions.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rating table totals 500,500 visits; bands 4 and 5 (108,310 and 108,762) each outweigh band 1 (94,312) — ratings skew positive.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3 of 5 — Destination Value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Purpose of Travel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people travel, and how does purpose affect spend and stay?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Purpose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only a handful of categories, a pie makes the part-to-whole split immediately readable.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CLUSTERED COLUMN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Purpose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Comparing one metric across a few categories — columns give a clean, precise side-by-side read.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Stay by Purpose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comparison logic as spend, kept visually consistent so patterns across metrics are easy to spot.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x Purpose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dimensions crossed together call for a matrix, so exact visitor volume per combination is visible.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 — Season: a simple reference list of season categories used elsewhere on the page.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Page 4 of 5 — Purpose of Travel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Purpose of Travel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do people travel, and how does purpose affect spend and stay?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623560" cy="3221714"/>
          </a:xfrm>
          <a:prstGeom prst="rect">
            <a:avLst/>
          </a:prstGeom>
          <a:solidFill>
            <a:srgbClr val="FFFFFF"/>
          </a:solidFill>
          <a:ln w="15875">
            <a:solidFill>
              <a:srgbClr val="BF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093F44">
                <a:alpha val="18000"/>
              </a:srgbClr>
            </a:outerShdw>
          </a:effectLst>
        </p:spPr>
      </p:sp>
      <p:pic>
        <p:nvPicPr>
          <p:cNvPr id="7" name="Image 0" descr="img/shot4_purpos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532120" cy="3130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1560"/>
            <a:ext cx="2560320" cy="3749040"/>
          </a:xfrm>
          <a:prstGeom prst="roundRect">
            <a:avLst>
              <a:gd name="adj" fmla="val 2143"/>
            </a:avLst>
          </a:prstGeom>
          <a:solidFill>
            <a:srgbClr val="0E5C63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purpose is nearly evenly split — Adventure leads at 12.26% while the smallest categories sit near 9%, so no single motive dominates.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Adventure travelers also stay longest and spend the most (~5M INR sum) — the strongest segment on both stay and spend.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Pilgrimage has the shortest average stay of all purposes, while Heritage has the lowest total spend (2,078,629).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total spend: Adventure (3,072,615) leads, followed by Business (2,527,809), Honeymoon (2,440,655), Family (2,381,727) and Backpacking (2,316,088).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4 of 5 — Purpose of Travel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Accommodation &amp; Transport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accommodation and transport choices relate to tourist spending?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45720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5836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CHART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5836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Spend by Accommodation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5836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straightforward category comparison, kept as bars for consistency with the rest of the report.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663440" y="1170432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864608" y="1298448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 CHART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864608" y="1499616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Visitors by Transport Mode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64608" y="1792224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pie variant that shows share of total while freeing the center for a total or label — good for a handful of transport modes.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5836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STACKED COLUMN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5836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Type by Accommodation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5836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Normalizing to 100% again isolates the mix — showing how domestic vs. international share shifts by accommodation type.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63440" y="2834640"/>
            <a:ext cx="4023360" cy="1536192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25400" dir="5400000">
              <a:srgbClr val="093F44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64608" y="2962656"/>
            <a:ext cx="362102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PIVOT TABLE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864608" y="3163824"/>
            <a:ext cx="36210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Accommodation x Transport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864608" y="3456432"/>
            <a:ext cx="3621024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cross-tab matrix delivers exact average spend for every accommodation-transport combination at once.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4700016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Slicer — Accommodation Type: filters every visual on the page by lodging type.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Add-on: Page 5 of 5 — Accommodation &amp; Transport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384048" cy="384048"/>
          </a:xfrm>
          <a:prstGeom prst="ellipse">
            <a:avLst/>
          </a:prstGeom>
          <a:solidFill>
            <a:srgbClr val="E8955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47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960120" y="292608"/>
            <a:ext cx="7680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Live Dashboard — Accommodation &amp; Transport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749808"/>
            <a:ext cx="8229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do accommodation and transport choices relate to tourist spending?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20040" y="1005840"/>
            <a:ext cx="5623560" cy="3221714"/>
          </a:xfrm>
          <a:prstGeom prst="rect">
            <a:avLst/>
          </a:prstGeom>
          <a:solidFill>
            <a:srgbClr val="FFFFFF"/>
          </a:solidFill>
          <a:ln w="15875">
            <a:solidFill>
              <a:srgbClr val="BFE3DE"/>
            </a:solidFill>
            <a:prstDash val="solid"/>
          </a:ln>
          <a:effectLst>
            <a:outerShdw sx="100000" sy="100000" kx="0" ky="0" algn="bl" rotWithShape="0" blurRad="101600" dist="25400" dir="5400000">
              <a:srgbClr val="093F44">
                <a:alpha val="18000"/>
              </a:srgbClr>
            </a:outerShdw>
          </a:effectLst>
        </p:spPr>
      </p:sp>
      <p:pic>
        <p:nvPicPr>
          <p:cNvPr id="7" name="Image 0" descr="img/shot5_accom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51560"/>
            <a:ext cx="5532120" cy="3130274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172200" y="1051560"/>
            <a:ext cx="2560320" cy="3749040"/>
          </a:xfrm>
          <a:prstGeom prst="roundRect">
            <a:avLst>
              <a:gd name="adj" fmla="val 2143"/>
            </a:avLst>
          </a:prstGeom>
          <a:solidFill>
            <a:srgbClr val="0E5C63"/>
          </a:solidFill>
          <a:ln/>
        </p:spPr>
      </p:sp>
      <p:sp>
        <p:nvSpPr>
          <p:cNvPr id="9" name="Text 6"/>
          <p:cNvSpPr/>
          <p:nvPr/>
        </p:nvSpPr>
        <p:spPr>
          <a:xfrm>
            <a:off x="6355080" y="1188720"/>
            <a:ext cx="21945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6355080" y="1481328"/>
            <a:ext cx="219456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Houseboats command the highest average spend, clearly ahead of Homestay and Hotel, with Resort the lowest of the seven types.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 travelers dominate every accommodation type at roughly 75–80% of visitors — foreign share never exceeds ~25%, whatever the lodging.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Transport mode is used almost equally: Bus (20.92%), Train (20.88%) and Flight (20.85%) are nearly tied; Bike trails at 17.53%.</a:t>
            </a:r>
            <a:endParaRPr lang="en-US" sz="920" dirty="0"/>
          </a:p>
          <a:p>
            <a:pPr marL="342900" indent="-342900">
              <a:lnSpc>
                <a:spcPct val="108000"/>
              </a:lnSpc>
              <a:spcAft>
                <a:spcPts val="1000"/>
              </a:spcAft>
              <a:buSzPct val="100000"/>
              <a:buChar char="▪"/>
            </a:pPr>
            <a:r>
              <a:rPr lang="en-US" sz="92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Flight-linked spend totals the highest across accommodation combos (8,209,189), just ahead of Bike (7,800,627) and Car (7,733,130).</a:t>
            </a:r>
            <a:endParaRPr lang="en-US" sz="920" dirty="0"/>
          </a:p>
        </p:txBody>
      </p:sp>
      <p:sp>
        <p:nvSpPr>
          <p:cNvPr id="11" name="Text 8"/>
          <p:cNvSpPr/>
          <p:nvPr/>
        </p:nvSpPr>
        <p:spPr>
          <a:xfrm>
            <a:off x="457200" y="4956048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view: Page 5 of 5 — Accommodation &amp; Transport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5486400" y="4956048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Indian Tourism Dataset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Problems &amp; Questions We Found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457200" y="84124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dashboard surfaced a few data patterns worth a second look before trusting every number at face value.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81328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481328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vs. season mismatch</a:t>
            </a:r>
            <a:endParaRPr lang="en-US" sz="11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 April appears under 3 different seasons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486400" y="1481328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labels don’t consistently follow India’s real calendar — worth relabeling before trusting seasonal splits.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57200" y="2048256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40080" y="2048256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spend range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3063240" y="2048256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₹1,511 to ₹74,580 per trip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486400" y="2048256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Such a broad spread raises the question of whether budget and luxury travelers should be analyzed as separate segments.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40080" y="2615184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Visitor count skew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3063240" y="2615184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 to 49,916 visitors per record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486400" y="2615184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Very small counts sit next to very large ones — worth checking whether these are real pilot destinations or entry errors.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57200" y="3182112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640080" y="3182112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concentration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063240" y="3182112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Gujarat ~1.7M, then a long tail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486400" y="3182112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is concentrated in a handful of states — are smaller states genuinely lower-demand, or under-surveyed?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57200" y="3749040"/>
            <a:ext cx="8229600" cy="475488"/>
          </a:xfrm>
          <a:prstGeom prst="roundRect">
            <a:avLst>
              <a:gd name="adj" fmla="val 961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12700" dir="5400000">
              <a:srgbClr val="093F44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40080" y="3749040"/>
            <a:ext cx="23774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F3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Domestic–foreign gap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3063240" y="3749040"/>
            <a:ext cx="2331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~4:1 domestic to foreign, every month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486400" y="3749040"/>
            <a:ext cx="30632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C7A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Foreign share never breaks ~25% anywhere in the data — is this the true mix, or is international travel under-captured?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93F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680960" y="-1463040"/>
            <a:ext cx="2926080" cy="2926080"/>
          </a:xfrm>
          <a:prstGeom prst="ellipse">
            <a:avLst/>
          </a:prstGeom>
          <a:solidFill>
            <a:srgbClr val="0E5C63">
              <a:alpha val="60000"/>
            </a:srgbClr>
          </a:solidFill>
          <a:ln/>
        </p:spPr>
        <p:txBody>
          <a:bodyPr/>
          <a:p/>
        </p:txBody>
      </p:sp>
      <p:sp>
        <p:nvSpPr>
          <p:cNvPr id="3" name="Shape 1"/>
          <p:cNvSpPr/>
          <p:nvPr/>
        </p:nvSpPr>
        <p:spPr>
          <a:xfrm>
            <a:off x="-1097280" y="3840480"/>
            <a:ext cx="2377440" cy="2377440"/>
          </a:xfrm>
          <a:prstGeom prst="ellipse">
            <a:avLst/>
          </a:prstGeom>
          <a:solidFill>
            <a:srgbClr val="0E5C63">
              <a:alpha val="60000"/>
            </a:srgbClr>
          </a:solidFill>
          <a:ln/>
        </p:spPr>
        <p:txBody>
          <a:bodyPr/>
          <a:p/>
        </p:txBody>
      </p:sp>
      <p:sp>
        <p:nvSpPr>
          <p:cNvPr id="4" name="Text 2"/>
          <p:cNvSpPr/>
          <p:nvPr/>
        </p:nvSpPr>
        <p:spPr>
          <a:xfrm>
            <a:off x="640080" y="64008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Takeaway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1188720"/>
            <a:ext cx="7498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FE3D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on this dashboard is decorative. Each chart type was picked because it is the clearest way to answer that page's guiding question.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96596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Trend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560320" y="196596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Line, Area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640080" y="2368296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Ranking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60320" y="2368296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Bar, Column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640080" y="277063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560320" y="2770632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Pie, Donut, 100% Stacked, Treemap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0080" y="31729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3172968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" y="3575304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560320" y="3575304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Filled Map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40080" y="3977640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560320" y="3977640"/>
            <a:ext cx="5669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Table, Pivot Table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45262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4864608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Chart Types Explained — Add-On</dc:title>
  <dc:subject>PptxGenJS Presentation</dc:subject>
  <dc:creator>Tourism Dashboard Walkthrough</dc:creator>
  <cp:lastModifiedBy>Tourism Dashboard Walkthrough</cp:lastModifiedBy>
  <cp:revision>1</cp:revision>
  <dcterms:created xsi:type="dcterms:W3CDTF">2026-07-01T06:31:59Z</dcterms:created>
  <dcterms:modified xsi:type="dcterms:W3CDTF">2026-07-01T06:31:59Z</dcterms:modified>
</cp:coreProperties>
</file>